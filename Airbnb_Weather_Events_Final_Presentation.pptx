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0" r:id="rId7"/>
    <p:sldId id="266" r:id="rId8"/>
    <p:sldId id="262" r:id="rId9"/>
    <p:sldId id="263" r:id="rId10"/>
    <p:sldId id="269" r:id="rId11"/>
    <p:sldId id="267" r:id="rId12"/>
    <p:sldId id="268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560095B-CD8A-48D6-A667-4A67E8927F46}">
          <p14:sldIdLst>
            <p14:sldId id="256"/>
            <p14:sldId id="257"/>
            <p14:sldId id="258"/>
            <p14:sldId id="259"/>
            <p14:sldId id="261"/>
            <p14:sldId id="260"/>
            <p14:sldId id="266"/>
            <p14:sldId id="262"/>
            <p14:sldId id="263"/>
            <p14:sldId id="269"/>
            <p14:sldId id="267"/>
            <p14:sldId id="268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65214-549C-4BD2-A95A-8965C099E271}" type="datetimeFigureOut">
              <a:rPr lang="en-IN" smtClean="0"/>
              <a:t>04-05-2025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6347C5-FA4A-415D-ABC0-FDCE71592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304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B8FF1-C8A2-4EAD-8A2B-3088662E5880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5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FE7B-0343-45E5-85AE-A3D55FC36B65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05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8146-7166-4D4C-804A-785379D189C6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408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735A6-73C6-400B-8944-4620974E98B6}" type="datetime1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233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5F88B-0431-42F1-8148-2F1B7D11C1F6}" type="datetime1">
              <a:rPr lang="en-US" smtClean="0"/>
              <a:t>5/4/2025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07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BD1-B52B-4A6E-B19E-D8A7DEAB76A7}" type="datetime1">
              <a:rPr lang="en-US" smtClean="0"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917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9DB14-9276-42B5-9B0C-CE712C8EB671}" type="datetime1">
              <a:rPr lang="en-US" smtClean="0"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480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A1F2-3B69-422B-9F57-0C80D253F237}" type="datetime1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67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9C212-B65E-4069-9CF1-7C38CCEF0CC9}" type="datetime1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276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0F040-8FD7-4646-9019-0FB3EE82B22B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676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1233F-A2E3-4AA1-9783-50A3D87E1BBA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36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0899B-5698-463B-9FB8-B01AA7F542C5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48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47881" y="1339022"/>
            <a:ext cx="2625628" cy="2717411"/>
          </a:xfrm>
        </p:spPr>
        <p:txBody>
          <a:bodyPr>
            <a:noAutofit/>
          </a:bodyPr>
          <a:lstStyle/>
          <a:p>
            <a:r>
              <a:rPr sz="2400" b="1" dirty="0">
                <a:solidFill>
                  <a:srgbClr val="C00000"/>
                </a:solidFill>
              </a:rPr>
              <a:t>Airbnb Price Analysis According to Weather and Events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4069" y="4365514"/>
            <a:ext cx="3297676" cy="832728"/>
          </a:xfrm>
        </p:spPr>
        <p:txBody>
          <a:bodyPr>
            <a:normAutofit/>
          </a:bodyPr>
          <a:lstStyle/>
          <a:p>
            <a:pPr algn="l"/>
            <a:r>
              <a:rPr sz="1800" b="1" dirty="0" smtClean="0">
                <a:solidFill>
                  <a:schemeClr val="accent2"/>
                </a:solidFill>
              </a:rPr>
              <a:t>Aparnna</a:t>
            </a:r>
            <a:r>
              <a:rPr sz="1800" b="1" dirty="0" smtClean="0">
                <a:solidFill>
                  <a:schemeClr val="bg1"/>
                </a:solidFill>
              </a:rPr>
              <a:t> </a:t>
            </a:r>
            <a:r>
              <a:rPr sz="1800" b="1" dirty="0">
                <a:solidFill>
                  <a:schemeClr val="accent2"/>
                </a:solidFill>
              </a:rPr>
              <a:t>Dash</a:t>
            </a:r>
          </a:p>
          <a:p>
            <a:pPr algn="l"/>
            <a:r>
              <a:rPr sz="1800" b="1" dirty="0" smtClean="0">
                <a:solidFill>
                  <a:schemeClr val="accent2"/>
                </a:solidFill>
              </a:rPr>
              <a:t>SRH Hochschule Heidelberg</a:t>
            </a:r>
            <a:endParaRPr sz="1800" b="1" dirty="0">
              <a:solidFill>
                <a:schemeClr val="accent2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0F9F-22B7-4260-B5ED-FD4771285716}" type="datetime1">
              <a:rPr lang="en-US" smtClean="0"/>
              <a:t>5/4/2025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85" y="1339023"/>
            <a:ext cx="5836596" cy="44333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smtClean="0">
                <a:solidFill>
                  <a:srgbClr val="7030A0"/>
                </a:solidFill>
              </a:rPr>
              <a:t>Contents</a:t>
            </a:r>
            <a:endParaRPr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smtClean="0"/>
              <a:t>About </a:t>
            </a:r>
            <a:r>
              <a:rPr dirty="0"/>
              <a:t>the Dataset</a:t>
            </a:r>
          </a:p>
          <a:p>
            <a:r>
              <a:rPr dirty="0" smtClean="0"/>
              <a:t>User </a:t>
            </a:r>
            <a:r>
              <a:rPr dirty="0"/>
              <a:t>Story and Business Questions</a:t>
            </a:r>
          </a:p>
          <a:p>
            <a:r>
              <a:rPr lang="en-IN" dirty="0" smtClean="0"/>
              <a:t>Architecture</a:t>
            </a:r>
            <a:endParaRPr dirty="0"/>
          </a:p>
          <a:p>
            <a:r>
              <a:rPr lang="en-IN" dirty="0" smtClean="0"/>
              <a:t>Big Query Dataset</a:t>
            </a:r>
            <a:endParaRPr lang="en-IN" dirty="0" smtClean="0"/>
          </a:p>
          <a:p>
            <a:r>
              <a:rPr lang="en-IN" dirty="0" smtClean="0"/>
              <a:t>DBT File Exploration</a:t>
            </a:r>
            <a:endParaRPr dirty="0"/>
          </a:p>
          <a:p>
            <a:r>
              <a:rPr lang="en-IN" dirty="0" smtClean="0"/>
              <a:t>DBT</a:t>
            </a:r>
            <a:r>
              <a:rPr dirty="0" smtClean="0"/>
              <a:t> </a:t>
            </a:r>
            <a:r>
              <a:rPr dirty="0"/>
              <a:t>- Transformations</a:t>
            </a:r>
          </a:p>
          <a:p>
            <a:r>
              <a:rPr lang="en-IN" dirty="0" smtClean="0"/>
              <a:t>DBT Schema</a:t>
            </a:r>
            <a:endParaRPr dirty="0"/>
          </a:p>
          <a:p>
            <a:r>
              <a:rPr dirty="0" smtClean="0"/>
              <a:t>Conclusion</a:t>
            </a:r>
            <a:endParaRPr dirty="0"/>
          </a:p>
          <a:p>
            <a:r>
              <a:rPr dirty="0" smtClean="0"/>
              <a:t>Thank </a:t>
            </a:r>
            <a:r>
              <a:rPr dirty="0"/>
              <a:t>You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A4167-479A-4A22-914E-68E56F69A784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b="1" dirty="0" smtClean="0">
                <a:solidFill>
                  <a:srgbClr val="7030A0"/>
                </a:solidFill>
              </a:rPr>
              <a:t>About the Dataset</a:t>
            </a:r>
            <a:endParaRPr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Live </a:t>
            </a:r>
            <a:r>
              <a:rPr dirty="0"/>
              <a:t>Weather Data: Collected from </a:t>
            </a:r>
            <a:r>
              <a:rPr dirty="0" err="1"/>
              <a:t>OpenWeather</a:t>
            </a:r>
            <a:r>
              <a:rPr dirty="0"/>
              <a:t> API</a:t>
            </a:r>
          </a:p>
          <a:p>
            <a:r>
              <a:rPr dirty="0" smtClean="0"/>
              <a:t>Static </a:t>
            </a:r>
            <a:r>
              <a:rPr dirty="0"/>
              <a:t>Airbnb Data: Sourced from https://insideairbnb.com/get-the-data/</a:t>
            </a:r>
          </a:p>
          <a:p>
            <a:r>
              <a:rPr dirty="0" smtClean="0"/>
              <a:t>Event </a:t>
            </a:r>
            <a:r>
              <a:rPr dirty="0"/>
              <a:t>Data: Gathered from EU Open Data Portal - https://data.europa.eu/en/news-events/events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02B1-A539-4075-A612-CCE71563E174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smtClean="0"/>
              <a:t> </a:t>
            </a:r>
            <a:r>
              <a:rPr b="1" dirty="0">
                <a:solidFill>
                  <a:srgbClr val="7030A0"/>
                </a:solidFill>
              </a:rPr>
              <a:t>User Story and 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b="1" dirty="0">
                <a:solidFill>
                  <a:srgbClr val="00B050"/>
                </a:solidFill>
              </a:rPr>
              <a:t>👤 User Story:</a:t>
            </a:r>
          </a:p>
          <a:p>
            <a:pPr marL="0" indent="0">
              <a:buNone/>
            </a:pPr>
            <a:r>
              <a:rPr sz="3300" dirty="0"/>
              <a:t>As a data analyst, I want to explore how weather and events impact Airbnb </a:t>
            </a:r>
            <a:r>
              <a:rPr sz="3300" dirty="0" smtClean="0"/>
              <a:t>pricing</a:t>
            </a:r>
            <a:r>
              <a:rPr lang="en-IN" sz="3300" dirty="0" smtClean="0"/>
              <a:t> </a:t>
            </a:r>
            <a:r>
              <a:rPr sz="3300" dirty="0" smtClean="0"/>
              <a:t>and </a:t>
            </a:r>
            <a:r>
              <a:rPr sz="3300" dirty="0"/>
              <a:t>availability across European </a:t>
            </a:r>
            <a:r>
              <a:rPr sz="3300" dirty="0" smtClean="0"/>
              <a:t>cities</a:t>
            </a:r>
            <a:r>
              <a:rPr lang="en-IN" sz="3300" dirty="0" smtClean="0"/>
              <a:t>(</a:t>
            </a:r>
            <a:r>
              <a:rPr lang="en-IN" sz="3300" dirty="0" err="1" smtClean="0"/>
              <a:t>Barcelona,Brussels,Florence,Madrid</a:t>
            </a:r>
            <a:r>
              <a:rPr lang="en-IN" sz="3300" dirty="0" smtClean="0"/>
              <a:t>)</a:t>
            </a:r>
            <a:r>
              <a:rPr sz="3300" dirty="0" smtClean="0"/>
              <a:t>, </a:t>
            </a:r>
            <a:r>
              <a:rPr sz="3300" dirty="0"/>
              <a:t>so I can recommend data-driven strategies to hosts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🔍 </a:t>
            </a:r>
            <a:r>
              <a:rPr b="1" dirty="0">
                <a:solidFill>
                  <a:srgbClr val="00B050"/>
                </a:solidFill>
              </a:rPr>
              <a:t>Business Questions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sz="2600" dirty="0"/>
              <a:t>• How do weather conditions affect Airbnb prices?</a:t>
            </a:r>
          </a:p>
          <a:p>
            <a:pPr marL="0" indent="0">
              <a:buNone/>
            </a:pPr>
            <a:r>
              <a:rPr sz="2600" dirty="0"/>
              <a:t>• Do public events increase Airbnb listing prices or bookings?</a:t>
            </a:r>
          </a:p>
          <a:p>
            <a:pPr marL="0" indent="0">
              <a:buNone/>
            </a:pPr>
            <a:r>
              <a:rPr sz="2600" dirty="0"/>
              <a:t>• What weather risk can be associated with each listing date and city?</a:t>
            </a:r>
          </a:p>
          <a:p>
            <a:pPr marL="0" indent="0">
              <a:buNone/>
            </a:pPr>
            <a:r>
              <a:rPr sz="2600" dirty="0"/>
              <a:t>• How many listings are available during events?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0974B-2A1E-4CC1-84E7-E56B0059865E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smtClean="0">
                <a:solidFill>
                  <a:srgbClr val="7030A0"/>
                </a:solidFill>
              </a:rPr>
              <a:t>Architecture</a:t>
            </a:r>
            <a:endParaRPr b="1" dirty="0">
              <a:solidFill>
                <a:srgbClr val="7030A0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7043" y="1825625"/>
            <a:ext cx="7369913" cy="435133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AAD6-F564-452C-87E3-DF611ED75025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b="1" dirty="0" smtClean="0">
                <a:solidFill>
                  <a:srgbClr val="7030A0"/>
                </a:solidFill>
              </a:rPr>
              <a:t>Big Query </a:t>
            </a:r>
            <a:r>
              <a:rPr b="1" dirty="0">
                <a:solidFill>
                  <a:srgbClr val="7030A0"/>
                </a:solidFill>
              </a:rPr>
              <a:t>Dataset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66E5C-C706-4F58-B7D6-6EF7E8E115D1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3" name="Picture 2" descr="fb1a683e-002b-481b-9f02-7942a6aaef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3959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DBT File Exploration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8904" y="1360470"/>
            <a:ext cx="5511452" cy="4765693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4C121-B6F2-44A5-A74A-D54F367903DF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193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281" y="749030"/>
            <a:ext cx="8803532" cy="63327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800" b="1" dirty="0"/>
              <a:t>Staging Models:</a:t>
            </a:r>
          </a:p>
          <a:p>
            <a:pPr marL="0" indent="0">
              <a:buNone/>
            </a:pPr>
            <a:r>
              <a:rPr sz="2000" b="1" dirty="0" err="1" smtClean="0"/>
              <a:t>stg_airbnb_data</a:t>
            </a:r>
            <a:r>
              <a:rPr lang="en-IN" sz="2000" b="1" dirty="0" smtClean="0"/>
              <a:t> </a:t>
            </a:r>
            <a:endParaRPr sz="2000" b="1" dirty="0"/>
          </a:p>
          <a:p>
            <a:pPr marL="0" indent="0">
              <a:buNone/>
            </a:pPr>
            <a:r>
              <a:rPr sz="2000" b="1" dirty="0" err="1" smtClean="0"/>
              <a:t>stg_weather_data</a:t>
            </a:r>
            <a:endParaRPr sz="2000" b="1" dirty="0"/>
          </a:p>
          <a:p>
            <a:pPr marL="0" indent="0">
              <a:buNone/>
            </a:pPr>
            <a:r>
              <a:rPr sz="2000" b="1" dirty="0" err="1" smtClean="0"/>
              <a:t>stg_events_data</a:t>
            </a:r>
            <a:endParaRPr sz="2000" b="1" dirty="0"/>
          </a:p>
          <a:p>
            <a:endParaRPr sz="600" dirty="0"/>
          </a:p>
          <a:p>
            <a:pPr marL="0" indent="0">
              <a:buNone/>
            </a:pPr>
            <a:r>
              <a:rPr sz="2800" b="1" dirty="0"/>
              <a:t>Mart Model:</a:t>
            </a:r>
          </a:p>
          <a:p>
            <a:pPr marL="0" indent="0">
              <a:buNone/>
            </a:pPr>
            <a:r>
              <a:rPr sz="2000" b="1" dirty="0" err="1" smtClean="0"/>
              <a:t>mart_airbnb_weather_events</a:t>
            </a:r>
            <a:r>
              <a:rPr lang="en-IN" sz="600" b="1" dirty="0" smtClean="0"/>
              <a:t>: </a:t>
            </a:r>
            <a:r>
              <a:rPr lang="en-IN" sz="1600" dirty="0" smtClean="0"/>
              <a:t>Joined Airbnb listings with corresponding weather conditions and local event data by city and date to form the analytical base model.</a:t>
            </a:r>
            <a:endParaRPr sz="1600" dirty="0"/>
          </a:p>
          <a:p>
            <a:endParaRPr sz="600" dirty="0"/>
          </a:p>
          <a:p>
            <a:pPr marL="0" indent="0">
              <a:buNone/>
            </a:pPr>
            <a:r>
              <a:rPr sz="2800" b="1" dirty="0" smtClean="0"/>
              <a:t>Transformations</a:t>
            </a:r>
            <a:r>
              <a:rPr lang="en-IN" sz="2800" b="1" dirty="0" smtClean="0"/>
              <a:t> Models</a:t>
            </a:r>
            <a:r>
              <a:rPr sz="2800" b="1" dirty="0" smtClean="0"/>
              <a:t>:</a:t>
            </a:r>
            <a:endParaRPr sz="2800" b="1" dirty="0"/>
          </a:p>
          <a:p>
            <a:pPr marL="0" indent="0">
              <a:buNone/>
            </a:pPr>
            <a:r>
              <a:rPr sz="2000" b="1" dirty="0" err="1" smtClean="0"/>
              <a:t>transform_airbnb_pricing</a:t>
            </a:r>
            <a:r>
              <a:rPr lang="en-IN" sz="1600" b="1" dirty="0" smtClean="0"/>
              <a:t>: </a:t>
            </a:r>
            <a:r>
              <a:rPr lang="en-IN" sz="1600" dirty="0" smtClean="0"/>
              <a:t>Classified listings into pricing categories and labelled weather risk levels for price optimization insights.</a:t>
            </a:r>
            <a:endParaRPr sz="1600" dirty="0"/>
          </a:p>
          <a:p>
            <a:pPr marL="0" indent="0">
              <a:buNone/>
            </a:pPr>
            <a:r>
              <a:rPr sz="2000" b="1" dirty="0" err="1" smtClean="0"/>
              <a:t>transform_event_impact</a:t>
            </a:r>
            <a:r>
              <a:rPr lang="en-IN" sz="1600" b="1" dirty="0" smtClean="0"/>
              <a:t>: </a:t>
            </a:r>
            <a:r>
              <a:rPr lang="en-IN" sz="1600" dirty="0" smtClean="0"/>
              <a:t>Aggregated listings and average prices by event and city to analyse the impact of public events on Airbnb availability.</a:t>
            </a:r>
            <a:endParaRPr sz="1600" dirty="0"/>
          </a:p>
          <a:p>
            <a:pPr marL="0" indent="0">
              <a:buNone/>
            </a:pPr>
            <a:r>
              <a:rPr sz="2000" b="1" dirty="0" err="1" smtClean="0"/>
              <a:t>transform_weather_risk</a:t>
            </a:r>
            <a:r>
              <a:rPr lang="en-IN" sz="1600" b="1" dirty="0" smtClean="0"/>
              <a:t>: </a:t>
            </a:r>
            <a:r>
              <a:rPr lang="en-IN" sz="1600" dirty="0" smtClean="0"/>
              <a:t>Assigned weather risk scores to listings based on weather conditions and temperature thresholds.</a:t>
            </a:r>
            <a:endParaRPr sz="16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4CFFB-9845-4946-83FB-9556055E8DD2}" type="datetime1">
              <a:rPr lang="en-US" smtClean="0"/>
              <a:t>5/4/2025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lang="en-IN" b="1" dirty="0" smtClean="0">
                <a:solidFill>
                  <a:srgbClr val="7030A0"/>
                </a:solidFill>
              </a:rPr>
              <a:t>DBT</a:t>
            </a:r>
            <a:r>
              <a:rPr b="1" dirty="0" smtClean="0">
                <a:solidFill>
                  <a:srgbClr val="7030A0"/>
                </a:solidFill>
              </a:rPr>
              <a:t> </a:t>
            </a:r>
            <a:r>
              <a:rPr b="1" dirty="0">
                <a:solidFill>
                  <a:srgbClr val="7030A0"/>
                </a:solidFill>
              </a:rPr>
              <a:t>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42053-9159-4959-8883-2678037887FF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2" descr="44de45f1-f7a1-4c9a-827c-787faf4b44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43996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BD1-B52B-4A6E-B19E-D8A7DEAB76A7}" type="datetime1">
              <a:rPr lang="en-US" smtClean="0"/>
              <a:t>5/4/2025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35020" y="489095"/>
            <a:ext cx="7003915" cy="2318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528"/>
              </a:spcBef>
            </a:pPr>
            <a:endParaRPr lang="en-IN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spcBef>
                <a:spcPts val="528"/>
              </a:spcBef>
            </a:pPr>
            <a:r>
              <a:rPr lang="en-IN" sz="2800" b="1" dirty="0"/>
              <a:t>How do weather conditions affect Airbnb prices</a:t>
            </a:r>
            <a:r>
              <a:rPr lang="en-IN" sz="2800" b="1" dirty="0" smtClean="0"/>
              <a:t>?</a:t>
            </a:r>
          </a:p>
          <a:p>
            <a:pPr>
              <a:spcBef>
                <a:spcPts val="528"/>
              </a:spcBef>
            </a:pPr>
            <a:endParaRPr lang="en-IN" dirty="0">
              <a:effectLst/>
            </a:endParaRPr>
          </a:p>
          <a:p>
            <a:pPr>
              <a:spcBef>
                <a:spcPts val="528"/>
              </a:spcBef>
            </a:pPr>
            <a:endParaRPr lang="en-IN" dirty="0" smtClean="0">
              <a:effectLst/>
            </a:endParaRPr>
          </a:p>
          <a:p>
            <a:pPr>
              <a:spcBef>
                <a:spcPts val="528"/>
              </a:spcBef>
            </a:pPr>
            <a:endParaRPr lang="en-IN" dirty="0">
              <a:effectLst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18" y="1820468"/>
            <a:ext cx="8392515" cy="333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739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758" y="2918993"/>
            <a:ext cx="6775530" cy="29565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758" y="993183"/>
            <a:ext cx="7480571" cy="1857021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latin typeface="+mn-lt"/>
              </a:rPr>
              <a:t>How many listings are available during events?</a:t>
            </a:r>
            <a:br>
              <a:rPr lang="en-US" sz="2800" b="1" dirty="0" smtClean="0">
                <a:latin typeface="+mn-lt"/>
              </a:rPr>
            </a:br>
            <a:r>
              <a:rPr lang="en-US" sz="2800" b="1" dirty="0" smtClean="0">
                <a:latin typeface="+mn-lt"/>
              </a:rPr>
              <a:t>Do public events increase Airbnb listing prices or bookings?</a:t>
            </a:r>
            <a:br>
              <a:rPr lang="en-US" sz="2800" b="1" dirty="0" smtClean="0">
                <a:latin typeface="+mn-lt"/>
              </a:rPr>
            </a:br>
            <a:endParaRPr lang="en-US" sz="2800" b="1" dirty="0">
              <a:latin typeface="+mn-l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BD1-B52B-4A6E-B19E-D8A7DEAB76A7}" type="datetime1">
              <a:rPr lang="en-US" smtClean="0"/>
              <a:t>5/4/2025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72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021" y="725048"/>
            <a:ext cx="7886700" cy="1325563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+mn-lt"/>
              </a:rPr>
              <a:t>What weather risk can be associated with each listing date and city?</a:t>
            </a:r>
            <a:br>
              <a:rPr lang="en-US" sz="2800" b="1" dirty="0" smtClean="0">
                <a:latin typeface="+mn-lt"/>
              </a:rPr>
            </a:br>
            <a:endParaRPr lang="en-IN" sz="2800" b="1" dirty="0">
              <a:latin typeface="+mn-l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BD1-B52B-4A6E-B19E-D8A7DEAB76A7}" type="datetime1">
              <a:rPr lang="en-US" smtClean="0"/>
              <a:t>5/4/2025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042807"/>
            <a:ext cx="7903714" cy="316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20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b="1" dirty="0">
                <a:solidFill>
                  <a:srgbClr val="7030A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smtClean="0"/>
              <a:t>Built </a:t>
            </a:r>
            <a:r>
              <a:rPr dirty="0"/>
              <a:t>an automated data pipeline combining static and live data</a:t>
            </a:r>
          </a:p>
          <a:p>
            <a:r>
              <a:rPr dirty="0" smtClean="0"/>
              <a:t>Centralized </a:t>
            </a:r>
            <a:r>
              <a:rPr dirty="0"/>
              <a:t>data warehouse using </a:t>
            </a:r>
            <a:r>
              <a:rPr dirty="0" err="1"/>
              <a:t>BigQuery</a:t>
            </a:r>
            <a:endParaRPr dirty="0"/>
          </a:p>
          <a:p>
            <a:r>
              <a:rPr dirty="0" smtClean="0"/>
              <a:t>Modular </a:t>
            </a:r>
            <a:r>
              <a:rPr dirty="0"/>
              <a:t>transformation logic using </a:t>
            </a:r>
            <a:r>
              <a:rPr dirty="0" err="1"/>
              <a:t>dbt</a:t>
            </a:r>
            <a:r>
              <a:rPr dirty="0"/>
              <a:t> Cloud</a:t>
            </a:r>
          </a:p>
          <a:p>
            <a:r>
              <a:rPr dirty="0" smtClean="0"/>
              <a:t>Scheduled </a:t>
            </a:r>
            <a:r>
              <a:rPr dirty="0"/>
              <a:t>and automated with Apache Airflow</a:t>
            </a:r>
          </a:p>
          <a:p>
            <a:r>
              <a:rPr dirty="0" smtClean="0"/>
              <a:t>Enables </a:t>
            </a:r>
            <a:r>
              <a:rPr dirty="0"/>
              <a:t>rich analytics on Airbnb pricing patterns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8ED82-6823-47CF-BE49-41735CEE4970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02914"/>
            <a:ext cx="8229600" cy="4058433"/>
          </a:xfrm>
        </p:spPr>
        <p:txBody>
          <a:bodyPr>
            <a:normAutofit/>
          </a:bodyPr>
          <a:lstStyle/>
          <a:p>
            <a:r>
              <a:rPr sz="7200" b="1" dirty="0" smtClean="0">
                <a:solidFill>
                  <a:srgbClr val="7030A0"/>
                </a:solidFill>
              </a:rPr>
              <a:t>Thank </a:t>
            </a:r>
            <a:r>
              <a:rPr sz="7200" b="1" dirty="0">
                <a:solidFill>
                  <a:srgbClr val="7030A0"/>
                </a:solidFill>
              </a:rPr>
              <a:t>You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970C0-1EFB-4B91-875B-07DBF676FC07}" type="datetime1">
              <a:rPr lang="en-US" smtClean="0"/>
              <a:t>5/4/2025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</TotalTime>
  <Words>372</Words>
  <Application>Microsoft Office PowerPoint</Application>
  <PresentationFormat>On-screen Show (4:3)</PresentationFormat>
  <Paragraphs>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Airbnb Price Analysis According to Weather and Events</vt:lpstr>
      <vt:lpstr>Contents</vt:lpstr>
      <vt:lpstr> About the Dataset</vt:lpstr>
      <vt:lpstr> User Story and Business Questions</vt:lpstr>
      <vt:lpstr>Architecture</vt:lpstr>
      <vt:lpstr> Big Query Dataset</vt:lpstr>
      <vt:lpstr>DBT File Exploration</vt:lpstr>
      <vt:lpstr>PowerPoint Presentation</vt:lpstr>
      <vt:lpstr> DBT Schema</vt:lpstr>
      <vt:lpstr>PowerPoint Presentation</vt:lpstr>
      <vt:lpstr>How many listings are available during events? Do public events increase Airbnb listing prices or bookings? </vt:lpstr>
      <vt:lpstr>What weather risk can be associated with each listing date and city? </vt:lpstr>
      <vt:lpstr> 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Airbnb Price Analysis According to Weather and Events</dc:title>
  <dc:subject/>
  <dc:creator>HP</dc:creator>
  <cp:keywords/>
  <dc:description>generated using python-pptx</dc:description>
  <cp:lastModifiedBy>Dash, Aparnna (SRH Hochschule Heidelberg Student)</cp:lastModifiedBy>
  <cp:revision>19</cp:revision>
  <dcterms:created xsi:type="dcterms:W3CDTF">2013-01-27T09:14:16Z</dcterms:created>
  <dcterms:modified xsi:type="dcterms:W3CDTF">2025-05-04T13:51:39Z</dcterms:modified>
  <cp:category/>
</cp:coreProperties>
</file>